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9" d="100"/>
          <a:sy n="89" d="100"/>
        </p:scale>
        <p:origin x="437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Projects flagged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Schedule</c:v>
                </c:pt>
                <c:pt idx="1">
                  <c:v>Milestones</c:v>
                </c:pt>
                <c:pt idx="2">
                  <c:v>Blockers</c:v>
                </c:pt>
                <c:pt idx="3">
                  <c:v>Sentiment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CE9-46F8-BE03-597BFED7B43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77280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41B4D"/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4846320"/>
            <a:ext cx="3657600" cy="3657600"/>
          </a:xfrm>
          <a:prstGeom prst="ellipse">
            <a:avLst/>
          </a:prstGeom>
          <a:solidFill>
            <a:srgbClr val="141B4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344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kern="0" spc="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SERVICES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9601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Monthly Project Health Update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269748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portfolio-level view of schedule, milestone, and delivery risk across active engagements.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54864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active projects reviewed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as of 2026-07-09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automatically by the Project Health Reporting Agent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Portfolio Snapshot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portfolio stands today, at a glance.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2918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664208"/>
            <a:ext cx="32918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2907792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projects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160520" y="1554480"/>
            <a:ext cx="32918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160520" y="1664208"/>
            <a:ext cx="32918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160520" y="2907792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 projects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0" y="1554480"/>
            <a:ext cx="32918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772400" y="1664208"/>
            <a:ext cx="32918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7772400" y="2907792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projects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65760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5F7FB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822192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of 4 projects are Red</a:t>
            </a: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and milestone slippage are the most common drivers across the flagged projects -- not isolated, one-off issues.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48640" y="52578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Per-project detail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94360" y="569671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5623560"/>
            <a:ext cx="6675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Orion ERP Migration - Falcon Manufacturing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589520" y="56235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869680" y="56235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Marcus Webb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6007608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934456"/>
            <a:ext cx="6675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Zycus - Titan S2P Implementation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589520" y="5934456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869680" y="5934456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Aftab Hashambhai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6318504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3"/>
          <p:cNvSpPr/>
          <p:nvPr/>
        </p:nvSpPr>
        <p:spPr>
          <a:xfrm>
            <a:off x="822960" y="6245352"/>
            <a:ext cx="6675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Zycus - UniSan S2P Implementation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589520" y="624535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869680" y="62453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Rajat Bothra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94360" y="6629400"/>
            <a:ext cx="146304" cy="146304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" y="6556248"/>
            <a:ext cx="6675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HR Suite Rollout - Northwind Retail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589520" y="65562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869680" y="655624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Ayesha Kulkarni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7200" y="502471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weekly automated health scans across all active project plans.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9509760" y="52120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of 2026-07-09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Trend Across Projects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Movement over the last three weekly scans -- direction matters as much as current color.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9FAFB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09928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Orion ERP Migration - Falcon Manufacturing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21031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017520" y="2167128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8" name="Text 6"/>
          <p:cNvSpPr/>
          <p:nvPr/>
        </p:nvSpPr>
        <p:spPr>
          <a:xfrm>
            <a:off x="2788920" y="237744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06-18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163824" y="2240280"/>
            <a:ext cx="914400" cy="0"/>
          </a:xfrm>
          <a:prstGeom prst="line">
            <a:avLst/>
          </a:prstGeom>
          <a:noFill/>
          <a:ln w="190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078224" y="2167128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1" name="Text 9"/>
          <p:cNvSpPr/>
          <p:nvPr/>
        </p:nvSpPr>
        <p:spPr>
          <a:xfrm>
            <a:off x="3849624" y="237744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06-25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224528" y="2240280"/>
            <a:ext cx="914400" cy="0"/>
          </a:xfrm>
          <a:prstGeom prst="line">
            <a:avLst/>
          </a:prstGeom>
          <a:noFill/>
          <a:ln w="19050">
            <a:solidFill>
              <a:srgbClr val="D1D5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138928" y="2167128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4" name="Text 12"/>
          <p:cNvSpPr/>
          <p:nvPr/>
        </p:nvSpPr>
        <p:spPr>
          <a:xfrm>
            <a:off x="4910328" y="237744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07-02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285232" y="2240280"/>
            <a:ext cx="914400" cy="0"/>
          </a:xfrm>
          <a:prstGeom prst="line">
            <a:avLst/>
          </a:prstGeom>
          <a:noFill/>
          <a:ln w="19050">
            <a:solidFill>
              <a:srgbClr val="D1D5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99632" y="2167128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7" name="Text 15"/>
          <p:cNvSpPr/>
          <p:nvPr/>
        </p:nvSpPr>
        <p:spPr>
          <a:xfrm>
            <a:off x="5971032" y="237744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07-09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852160" y="1709928"/>
            <a:ext cx="55778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Orion ERP Migration - Falcon Manufacturing is off track and needs immediate leadership intervention.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01752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9FAFB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3127248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Zycus - Titan S2P Implementation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77240" y="352044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017520" y="3584448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3" name="Text 21"/>
          <p:cNvSpPr/>
          <p:nvPr/>
        </p:nvSpPr>
        <p:spPr>
          <a:xfrm>
            <a:off x="2788920" y="379476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06-18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163824" y="3657600"/>
            <a:ext cx="914400" cy="0"/>
          </a:xfrm>
          <a:prstGeom prst="line">
            <a:avLst/>
          </a:prstGeom>
          <a:noFill/>
          <a:ln w="19050">
            <a:solidFill>
              <a:srgbClr val="D1D5D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78224" y="3584448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6" name="Text 24"/>
          <p:cNvSpPr/>
          <p:nvPr/>
        </p:nvSpPr>
        <p:spPr>
          <a:xfrm>
            <a:off x="3849624" y="379476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06-25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224528" y="3657600"/>
            <a:ext cx="914400" cy="0"/>
          </a:xfrm>
          <a:prstGeom prst="line">
            <a:avLst/>
          </a:prstGeom>
          <a:noFill/>
          <a:ln w="19050">
            <a:solidFill>
              <a:srgbClr val="D1D5D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138928" y="3584448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9" name="Text 27"/>
          <p:cNvSpPr/>
          <p:nvPr/>
        </p:nvSpPr>
        <p:spPr>
          <a:xfrm>
            <a:off x="4910328" y="379476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07-02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5852160" y="3127248"/>
            <a:ext cx="55778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Zycus - Titan S2P Implementation is off track and needs immediate leadership intervention.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8640" y="443484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9FAFB"/>
          </a:solidFill>
          <a:ln/>
        </p:spPr>
      </p:sp>
      <p:sp>
        <p:nvSpPr>
          <p:cNvPr id="32" name="Text 30"/>
          <p:cNvSpPr/>
          <p:nvPr/>
        </p:nvSpPr>
        <p:spPr>
          <a:xfrm>
            <a:off x="777240" y="4544568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Zycus - UniSan S2P Implementation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77240" y="49377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Worsening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017520" y="5001768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35" name="Text 33"/>
          <p:cNvSpPr/>
          <p:nvPr/>
        </p:nvSpPr>
        <p:spPr>
          <a:xfrm>
            <a:off x="2788920" y="521208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06-18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163824" y="5074920"/>
            <a:ext cx="914400" cy="0"/>
          </a:xfrm>
          <a:prstGeom prst="line">
            <a:avLst/>
          </a:prstGeom>
          <a:noFill/>
          <a:ln w="19050">
            <a:solidFill>
              <a:srgbClr val="D1D5D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078224" y="5001768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38" name="Text 36"/>
          <p:cNvSpPr/>
          <p:nvPr/>
        </p:nvSpPr>
        <p:spPr>
          <a:xfrm>
            <a:off x="3849624" y="521208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06-25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224528" y="5074920"/>
            <a:ext cx="914400" cy="0"/>
          </a:xfrm>
          <a:prstGeom prst="line">
            <a:avLst/>
          </a:prstGeom>
          <a:noFill/>
          <a:ln w="19050">
            <a:solidFill>
              <a:srgbClr val="D1D5D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138928" y="5001768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41" name="Text 39"/>
          <p:cNvSpPr/>
          <p:nvPr/>
        </p:nvSpPr>
        <p:spPr>
          <a:xfrm>
            <a:off x="4910328" y="521208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07-02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285232" y="5074920"/>
            <a:ext cx="914400" cy="0"/>
          </a:xfrm>
          <a:prstGeom prst="line">
            <a:avLst/>
          </a:prstGeom>
          <a:noFill/>
          <a:ln w="19050">
            <a:solidFill>
              <a:srgbClr val="D1D5D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199632" y="5001768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44" name="Text 42"/>
          <p:cNvSpPr/>
          <p:nvPr/>
        </p:nvSpPr>
        <p:spPr>
          <a:xfrm>
            <a:off x="5971032" y="521208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07-09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5852160" y="4544568"/>
            <a:ext cx="55778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Zycus - UniSan S2P Implementation is off track and needs immediate leadership intervention.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548640" y="585216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9FAFB"/>
          </a:solidFill>
          <a:ln/>
        </p:spPr>
      </p:sp>
      <p:sp>
        <p:nvSpPr>
          <p:cNvPr id="47" name="Text 45"/>
          <p:cNvSpPr/>
          <p:nvPr/>
        </p:nvSpPr>
        <p:spPr>
          <a:xfrm>
            <a:off x="777240" y="5961888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HR Suite Rollout - Northwind Retail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777240" y="63550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017520" y="6419088"/>
            <a:ext cx="146304" cy="146304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50" name="Text 48"/>
          <p:cNvSpPr/>
          <p:nvPr/>
        </p:nvSpPr>
        <p:spPr>
          <a:xfrm>
            <a:off x="2788920" y="662940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06-18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3163824" y="6492240"/>
            <a:ext cx="914400" cy="0"/>
          </a:xfrm>
          <a:prstGeom prst="line">
            <a:avLst/>
          </a:prstGeom>
          <a:noFill/>
          <a:ln w="19050">
            <a:solidFill>
              <a:srgbClr val="D1D5DB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078224" y="6419088"/>
            <a:ext cx="146304" cy="146304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53" name="Text 51"/>
          <p:cNvSpPr/>
          <p:nvPr/>
        </p:nvSpPr>
        <p:spPr>
          <a:xfrm>
            <a:off x="3849624" y="662940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06-25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4224528" y="6492240"/>
            <a:ext cx="914400" cy="0"/>
          </a:xfrm>
          <a:prstGeom prst="line">
            <a:avLst/>
          </a:prstGeom>
          <a:noFill/>
          <a:ln w="19050">
            <a:solidFill>
              <a:srgbClr val="D1D5D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138928" y="6419088"/>
            <a:ext cx="146304" cy="146304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56" name="Text 54"/>
          <p:cNvSpPr/>
          <p:nvPr/>
        </p:nvSpPr>
        <p:spPr>
          <a:xfrm>
            <a:off x="4910328" y="662940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07-02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5285232" y="6492240"/>
            <a:ext cx="914400" cy="0"/>
          </a:xfrm>
          <a:prstGeom prst="line">
            <a:avLst/>
          </a:prstGeom>
          <a:noFill/>
          <a:ln w="19050">
            <a:solidFill>
              <a:srgbClr val="D1D5D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199632" y="6419088"/>
            <a:ext cx="146304" cy="146304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59" name="Text 57"/>
          <p:cNvSpPr/>
          <p:nvPr/>
        </p:nvSpPr>
        <p:spPr>
          <a:xfrm>
            <a:off x="5971032" y="662940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07-09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852160" y="5961888"/>
            <a:ext cx="55778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HR Suite Rollout - Northwind Retail is healthy and on track.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512064" y="12801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Dots read left-to-right, oldest to most recent weekly scan.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9558068" y="1247725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of 2026-07-09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Emerging Risk: What's Actually Driving It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projects are flagged Amber/Red on each dimension -- the pattern, not just the count.</a:t>
            </a:r>
            <a:endParaRPr lang="en-US" sz="13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463040"/>
          <a:ext cx="640080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7223760" y="1463040"/>
            <a:ext cx="4389120" cy="4114800"/>
          </a:xfrm>
          <a:prstGeom prst="roundRect">
            <a:avLst>
              <a:gd name="adj" fmla="val 1778"/>
            </a:avLst>
          </a:prstGeom>
          <a:solidFill>
            <a:srgbClr val="1E2761"/>
          </a:solidFill>
          <a:ln/>
        </p:spPr>
      </p:sp>
      <p:sp>
        <p:nvSpPr>
          <p:cNvPr id="6" name="Text 3"/>
          <p:cNvSpPr/>
          <p:nvPr/>
        </p:nvSpPr>
        <p:spPr>
          <a:xfrm>
            <a:off x="7498080" y="169164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on the pattern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498080" y="2148840"/>
            <a:ext cx="39319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is the most common flag across the flagged projects.</a:t>
            </a:r>
            <a:endParaRPr lang="en-US" sz="12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showing up in more than one project, which points to a portfolio-level cause (resourcing, client dependency, or estimation) rather than one team's execution.</a:t>
            </a:r>
            <a:endParaRPr lang="en-US" sz="12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and budget are excluded from this cycle's scoring where source data didn't include cost actuals or PM commentary -- flagged, not guessed.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reflect the most recent scan per project.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9601200" y="647395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of 2026-07-09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Spotlight: Projects Needing Attention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5349240" cy="5120640"/>
          </a:xfrm>
          <a:prstGeom prst="roundRect">
            <a:avLst>
              <a:gd name="adj" fmla="val 1429"/>
            </a:avLst>
          </a:prstGeom>
          <a:solidFill>
            <a:srgbClr val="F9FAFB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41732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417320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1920240"/>
            <a:ext cx="4800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Orion ERP Migration - Falcon Manufacturing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514600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PM: Marcus Webb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926080"/>
            <a:ext cx="4800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Schedule: Red</a:t>
            </a:r>
            <a:endParaRPr lang="en-US" sz="1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Milestones: Red</a:t>
            </a:r>
            <a:endParaRPr lang="en-US" sz="1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Blockers: Amber</a:t>
            </a:r>
            <a:endParaRPr lang="en-US" sz="1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Sentiment: Red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4206240"/>
            <a:ext cx="4800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Orion ERP Migration - Falcon Manufacturing is off track and needs immediate leadership intervention. Schedule: 3 of 6 active tasks (50%) are past their planned end date. 4 tasks (40%) are self-flagged Red in the plan. 3 critical-path tasks are overdue. Actual progress is running at 50% of the pace needed for the elapsed timeline. Milestones: 3 of 9 major phase(s) are past their planned end date and not yet complete (e.g. Data Migration Build, Integration Build, Security Review). Blockers: 2 dependent task(s) have a passed start date but haven't started (possible blockers). Sentiment: 3 of 6 status comments contain risk/delay language (keyword proxy, not true sentiment analysis). Note: budget could not be assessed (data not available in source file) and were excluded from the composite score.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63640" y="1143000"/>
            <a:ext cx="5349240" cy="5120640"/>
          </a:xfrm>
          <a:prstGeom prst="roundRect">
            <a:avLst>
              <a:gd name="adj" fmla="val 1429"/>
            </a:avLst>
          </a:prstGeom>
          <a:solidFill>
            <a:srgbClr val="F9FAFB"/>
          </a:solidFill>
          <a:ln/>
        </p:spPr>
      </p:sp>
      <p:sp>
        <p:nvSpPr>
          <p:cNvPr id="11" name="Shape 9"/>
          <p:cNvSpPr/>
          <p:nvPr/>
        </p:nvSpPr>
        <p:spPr>
          <a:xfrm>
            <a:off x="6537960" y="141732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2" name="Text 10"/>
          <p:cNvSpPr/>
          <p:nvPr/>
        </p:nvSpPr>
        <p:spPr>
          <a:xfrm>
            <a:off x="6537960" y="1417320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37960" y="1920240"/>
            <a:ext cx="4800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Zycus - Titan S2P Implementation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37960" y="2514600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PM: Aftab Hashambhai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37960" y="2926080"/>
            <a:ext cx="4800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Schedule: Red</a:t>
            </a:r>
            <a:endParaRPr lang="en-US" sz="1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Milestones: Red</a:t>
            </a:r>
            <a:endParaRPr lang="en-US" sz="1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Blockers: Amber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37960" y="4206240"/>
            <a:ext cx="4800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Zycus - Titan S2P Implementation is off track and needs immediate leadership intervention. Schedule: 16 active task(s) are past their planned end date, within tolerance. 82 tasks (17%) are self-flagged Red in the plan. Milestones: 2 of 14 major phase(s) are past their planned end date and not yet complete (e.g. Configuration and Build phase, Production &amp; Cutover). Blockers: 1 dependent task(s) have a passed start date but haven't started (possible blockers). 3 task(s) explicitly marked On Hold. Note: budget could not be assessed (data not available in source file) and were excluded from the composite score.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evidence trail available in the weekly JSON/Markdown reports per project.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601200" y="647395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of 2026-07-09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Recommendations &amp; Next Steps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457200" cy="45720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3258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Address the shared bottleneck, not just the symptom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80160" y="1719072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slippage is showing up across multiple projects at once -- treat it as a resourcing/estimation review, not a project-by-project fire drill.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2606040"/>
            <a:ext cx="457200" cy="45720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606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256032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Escalate stalled dependencies this week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80160" y="2953512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stuck behind unmet predecessors or client-side blockers are a leading indicator of Red status; a targeted unblock call is cheaper now than a re-baseline later.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3840480"/>
            <a:ext cx="457200" cy="45720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840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379476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 the budget and sentiment data gap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80160" y="4187952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five health signals could not be scored this cycle because cost actuals and PM commentary weren't captured consistently -- wiring these in sharpens every future report.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63093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the Professional Services Project Health Reporting Agent -- refreshed weekly.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866</Words>
  <Application>Microsoft Office PowerPoint</Application>
  <PresentationFormat>Widescreen</PresentationFormat>
  <Paragraphs>105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Monthly Project Health Update</dc:title>
  <dc:subject>PptxGenJS Presentation</dc:subject>
  <dc:creator>Professional Services -- Project Health Agent</dc:creator>
  <cp:lastModifiedBy>Thushank Bagal ADYPU</cp:lastModifiedBy>
  <cp:revision>3</cp:revision>
  <dcterms:created xsi:type="dcterms:W3CDTF">2026-07-09T09:59:47Z</dcterms:created>
  <dcterms:modified xsi:type="dcterms:W3CDTF">2026-07-09T10:02:32Z</dcterms:modified>
</cp:coreProperties>
</file>